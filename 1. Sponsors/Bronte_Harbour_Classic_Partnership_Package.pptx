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84" y="1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2742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71c5c6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10438" y="693539"/>
            <a:ext cx="6722974" cy="1508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940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BRONTE HARBOUR</a:t>
            </a:r>
            <a:endParaRPr lang="en-US" sz="5400" dirty="0"/>
          </a:p>
          <a:p>
            <a:pPr marL="0" indent="0" algn="ctr">
              <a:lnSpc>
                <a:spcPts val="5940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1821954" y="2506861"/>
            <a:ext cx="5499943" cy="685800"/>
          </a:xfrm>
          <a:prstGeom prst="roundRect">
            <a:avLst>
              <a:gd name="adj" fmla="val 5556"/>
            </a:avLst>
          </a:prstGeom>
          <a:solidFill>
            <a:srgbClr val="DC14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233298" y="2659261"/>
            <a:ext cx="467725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Father's Day • June 21, 2026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410819" y="3497461"/>
            <a:ext cx="632236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5K Race + Kids 1K Fun Run + All-Day Festival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3127427" y="4145161"/>
            <a:ext cx="288914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Opportunities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DC14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70437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Inaugural Event - Creating a New Tradition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201192"/>
            <a:ext cx="8382000" cy="609600"/>
          </a:xfrm>
          <a:prstGeom prst="roundRect">
            <a:avLst>
              <a:gd name="adj" fmla="val 625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8076" y="1353592"/>
            <a:ext cx="792784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Part of History! First-Ever Bronte Harbour Classic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1000" y="1963192"/>
            <a:ext cx="854964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Bronte Harbour Classic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new Father's Day tradition born from the passion of </a:t>
            </a: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Bronte Runners Club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This inaugural event brings together runners, families, and local businesses along Oakville's beautiful waterfront.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81000" y="2963317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DC1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Partner With Us?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81000" y="3496717"/>
            <a:ext cx="4038600" cy="1131391"/>
          </a:xfrm>
          <a:prstGeom prst="roundRect">
            <a:avLst>
              <a:gd name="adj" fmla="val 336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0050" y="3496717"/>
            <a:ext cx="0" cy="1131391"/>
          </a:xfrm>
          <a:prstGeom prst="line">
            <a:avLst/>
          </a:prstGeom>
          <a:noFill/>
          <a:ln w="38100">
            <a:solidFill>
              <a:srgbClr val="DC14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0550" y="3668167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DC1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Impact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0550" y="4030117"/>
            <a:ext cx="3730752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</a:t>
            </a: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Oakville Dads Charity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connect with families celebrating Father's Day.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24400" y="3603278"/>
            <a:ext cx="4038600" cy="918121"/>
          </a:xfrm>
          <a:prstGeom prst="roundRect">
            <a:avLst>
              <a:gd name="adj" fmla="val 415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743450" y="3603278"/>
            <a:ext cx="0" cy="918121"/>
          </a:xfrm>
          <a:prstGeom prst="line">
            <a:avLst/>
          </a:prstGeom>
          <a:noFill/>
          <a:ln w="38100">
            <a:solidFill>
              <a:srgbClr val="DC14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3950" y="3774728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DC1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Floor Opportunity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3950" y="4136678"/>
            <a:ext cx="37307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a founding sponsor of an annual Oakville tradition.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DC14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Highlights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970211"/>
            <a:ext cx="4038600" cy="1458962"/>
          </a:xfrm>
          <a:prstGeom prst="roundRect">
            <a:avLst>
              <a:gd name="adj" fmla="val 2611"/>
            </a:avLst>
          </a:prstGeom>
          <a:solidFill>
            <a:srgbClr val="F5F5F5"/>
          </a:solidFill>
          <a:ln w="19050">
            <a:solidFill>
              <a:srgbClr val="1A1A1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2450" y="1141661"/>
            <a:ext cx="18945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&amp; Time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52450" y="1503611"/>
            <a:ext cx="376961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Father's Day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2450" y="1774031"/>
            <a:ext cx="376961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Sunday, June 21,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2450" y="2044452"/>
            <a:ext cx="376961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Races: 8:00 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24400" y="970211"/>
            <a:ext cx="4038600" cy="1188541"/>
          </a:xfrm>
          <a:prstGeom prst="roundRect">
            <a:avLst>
              <a:gd name="adj" fmla="val 3206"/>
            </a:avLst>
          </a:prstGeom>
          <a:solidFill>
            <a:srgbClr val="F5F5F5"/>
          </a:solidFill>
          <a:ln w="19050">
            <a:solidFill>
              <a:srgbClr val="1A1A1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95850" y="1141661"/>
            <a:ext cx="18945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5850" y="1503611"/>
            <a:ext cx="376961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Bronte Harbour Park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5850" y="1774031"/>
            <a:ext cx="376961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Lakeshore Rd, Oakville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1000" y="2581573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6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DC1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Features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1000" y="2981623"/>
            <a:ext cx="4114800" cy="111740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1750"/>
              </a:lnSpc>
              <a:spcAft>
                <a:spcPts val="300"/>
              </a:spcAft>
              <a:buSzPct val="100000"/>
              <a:buChar char="•"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5K Race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Scenic waterfront course</a:t>
            </a:r>
            <a:endParaRPr lang="en-US" sz="1125" dirty="0"/>
          </a:p>
          <a:p>
            <a:pPr marL="114300" indent="-114300" algn="l">
              <a:lnSpc>
                <a:spcPts val="1750"/>
              </a:lnSpc>
              <a:spcAft>
                <a:spcPts val="300"/>
              </a:spcAft>
              <a:buSzPct val="100000"/>
              <a:buChar char="•"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Kids 1K Fun Run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Ages 2-12 welcome</a:t>
            </a:r>
            <a:endParaRPr lang="en-US" sz="1125" dirty="0"/>
          </a:p>
          <a:p>
            <a:pPr marL="114300" indent="-114300" algn="l">
              <a:lnSpc>
                <a:spcPts val="1750"/>
              </a:lnSpc>
              <a:spcAft>
                <a:spcPts val="300"/>
              </a:spcAft>
              <a:buSzPct val="100000"/>
              <a:buChar char="•"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Music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All-day entertainment</a:t>
            </a:r>
            <a:endParaRPr lang="en-US" sz="1125" dirty="0"/>
          </a:p>
          <a:p>
            <a:pPr marL="114300" indent="-114300" algn="l">
              <a:lnSpc>
                <a:spcPts val="1750"/>
              </a:lnSpc>
              <a:spcAft>
                <a:spcPts val="300"/>
              </a:spcAft>
              <a:buSzPct val="100000"/>
              <a:buChar char="•"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Vendors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Food &amp; community market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4648200" y="2981623"/>
            <a:ext cx="4114800" cy="111740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1750"/>
              </a:lnSpc>
              <a:spcAft>
                <a:spcPts val="300"/>
              </a:spcAft>
              <a:buSzPct val="100000"/>
              <a:buChar char="•"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Expo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- 10x10 booths available</a:t>
            </a:r>
            <a:endParaRPr lang="en-US" sz="1125" dirty="0"/>
          </a:p>
          <a:p>
            <a:pPr marL="114300" indent="-114300" algn="l">
              <a:lnSpc>
                <a:spcPts val="1750"/>
              </a:lnSpc>
              <a:spcAft>
                <a:spcPts val="300"/>
              </a:spcAft>
              <a:buSzPct val="100000"/>
              <a:buChar char="•"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Activities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Games &amp; waterfront fun</a:t>
            </a:r>
            <a:endParaRPr lang="en-US" sz="1125" dirty="0"/>
          </a:p>
          <a:p>
            <a:pPr marL="114300" indent="-114300" algn="l">
              <a:lnSpc>
                <a:spcPts val="1750"/>
              </a:lnSpc>
              <a:spcAft>
                <a:spcPts val="300"/>
              </a:spcAft>
              <a:buSzPct val="100000"/>
              <a:buChar char="•"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Awards Ceremony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Age group prizes</a:t>
            </a:r>
            <a:endParaRPr lang="en-US" sz="1125" dirty="0"/>
          </a:p>
          <a:p>
            <a:pPr marL="114300" indent="-114300" algn="l">
              <a:lnSpc>
                <a:spcPts val="1750"/>
              </a:lnSpc>
              <a:spcAft>
                <a:spcPts val="300"/>
              </a:spcAft>
              <a:buSzPct val="100000"/>
              <a:buChar char="•"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Charity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Oakville Dads Charity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381000" y="4175224"/>
            <a:ext cx="8382000" cy="417165"/>
          </a:xfrm>
          <a:prstGeom prst="roundRect">
            <a:avLst>
              <a:gd name="adj" fmla="val 9133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1490" y="4270474"/>
            <a:ext cx="8161020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Expected: 800+ Participants | Thousands of Festival Visitors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DC143C"/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Highlights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784175"/>
            <a:ext cx="4038600" cy="1420862"/>
          </a:xfrm>
          <a:prstGeom prst="roundRect">
            <a:avLst>
              <a:gd name="adj" fmla="val 5363"/>
            </a:avLst>
          </a:prstGeom>
          <a:solidFill>
            <a:srgbClr val="E8F6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936575"/>
            <a:ext cx="19139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&amp; Time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33400" y="1298525"/>
            <a:ext cx="380847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Father's Day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3400" y="1568946"/>
            <a:ext cx="380847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Sunday, June 21,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3400" y="1839367"/>
            <a:ext cx="380847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Races: 8:00 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24400" y="784175"/>
            <a:ext cx="4038600" cy="1150441"/>
          </a:xfrm>
          <a:prstGeom prst="roundRect">
            <a:avLst>
              <a:gd name="adj" fmla="val 6624"/>
            </a:avLst>
          </a:prstGeom>
          <a:solidFill>
            <a:srgbClr val="E8F6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76800" y="936575"/>
            <a:ext cx="19139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76800" y="1298525"/>
            <a:ext cx="380847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Bronte Harbour Park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76800" y="1568946"/>
            <a:ext cx="380847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Lakeshore Rd, Oakville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1000" y="2357438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6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Full-Day Festival Features</a:t>
            </a:r>
            <a:endParaRPr lang="en-US" sz="1500" dirty="0">
              <a:solidFill>
                <a:srgbClr val="FF000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381000" y="2766268"/>
            <a:ext cx="8382000" cy="152757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1867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5K Race + Kids 1K Fun Run</a:t>
            </a: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Scenic lakeside course</a:t>
            </a:r>
            <a:endParaRPr lang="en-US" sz="1200" dirty="0"/>
          </a:p>
          <a:p>
            <a:pPr marL="114300" indent="-114300" algn="l">
              <a:lnSpc>
                <a:spcPts val="1867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Music &amp; Entertainment</a:t>
            </a: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All-day performances</a:t>
            </a:r>
            <a:endParaRPr lang="en-US" sz="1200" dirty="0"/>
          </a:p>
          <a:p>
            <a:pPr marL="114300" indent="-114300" algn="l">
              <a:lnSpc>
                <a:spcPts val="1867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Vendors</a:t>
            </a: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Food, drinks, community market</a:t>
            </a:r>
            <a:endParaRPr lang="en-US" sz="1200" dirty="0"/>
          </a:p>
          <a:p>
            <a:pPr marL="114300" indent="-114300" algn="l">
              <a:lnSpc>
                <a:spcPts val="1867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Activities</a:t>
            </a: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Games, waterfront walks</a:t>
            </a:r>
            <a:endParaRPr lang="en-US" sz="1200" dirty="0"/>
          </a:p>
          <a:p>
            <a:pPr marL="114300" indent="-114300" algn="l">
              <a:lnSpc>
                <a:spcPts val="1867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Support</a:t>
            </a: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Proceeds benefit Oakville Dads Charity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1000" y="4361259"/>
            <a:ext cx="8382000" cy="417165"/>
          </a:xfrm>
          <a:prstGeom prst="roundRect">
            <a:avLst>
              <a:gd name="adj" fmla="val 18266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1490" y="4456509"/>
            <a:ext cx="8161020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Expected: 800+ Participants | Thousands of Festival Visitors</a:t>
            </a:r>
            <a:endParaRPr lang="en-US" sz="1275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DC14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434282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Opportunities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019175"/>
            <a:ext cx="4114800" cy="3562350"/>
          </a:xfrm>
          <a:prstGeom prst="roundRect">
            <a:avLst>
              <a:gd name="adj" fmla="val 107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209675"/>
            <a:ext cx="276891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Sponsor - Exclusive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71500" y="1590675"/>
            <a:ext cx="38084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$8,000 for 1 year • $15,000 for 2 years • $30,000 for 3 years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71500" y="2219325"/>
            <a:ext cx="3733800" cy="21717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name featured with top-billing on all race collateral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to speak at race start or awards ceremony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to be an official race starter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Complimentary booth in Vendor Expo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complimentary entries to the race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48200" y="1019175"/>
            <a:ext cx="4114800" cy="3562350"/>
          </a:xfrm>
          <a:prstGeom prst="roundRect">
            <a:avLst>
              <a:gd name="adj" fmla="val 107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38700" y="1209675"/>
            <a:ext cx="2224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Presenting Sponsor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38700" y="1590675"/>
            <a:ext cx="38084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$5,000 for 1 year • $10,000 for 2 years • $15,000 for 3 years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38700" y="2219325"/>
            <a:ext cx="3733800" cy="21717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name below race name on all collateral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name and logo featured at Start/Finish line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Complimentary booth in Vendor Expo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complimentary entries to the race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DC14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61499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Partnership Opportunities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57876" y="804069"/>
            <a:ext cx="2692450" cy="3197473"/>
          </a:xfrm>
          <a:prstGeom prst="roundRect">
            <a:avLst>
              <a:gd name="adj" fmla="val 1415"/>
            </a:avLst>
          </a:prstGeom>
          <a:solidFill>
            <a:srgbClr val="FFFFFF"/>
          </a:solidFill>
          <a:ln w="28575">
            <a:solidFill>
              <a:srgbClr val="1A1A1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61826" y="804069"/>
            <a:ext cx="21179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DC1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KidsFest Title Sponsor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51843" y="1041102"/>
            <a:ext cx="23771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DC1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$7,000 / $13,000 / $18,000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12176" y="1238250"/>
            <a:ext cx="2330500" cy="29337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name and logo on race collateral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the KidsFest area with signage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banner on KidsFest gateway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on kids t-shirts and race bibs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entries or 10 Kids 1K entries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18939" y="792067"/>
            <a:ext cx="2692450" cy="3204452"/>
          </a:xfrm>
          <a:prstGeom prst="roundRect">
            <a:avLst>
              <a:gd name="adj" fmla="val 1415"/>
            </a:avLst>
          </a:prstGeom>
          <a:solidFill>
            <a:srgbClr val="FFFFFF"/>
          </a:solidFill>
          <a:ln w="28575">
            <a:solidFill>
              <a:srgbClr val="1A1A1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06750" y="771786"/>
            <a:ext cx="20013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DC1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Kids 1K Run Sponsor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50628" y="1003656"/>
            <a:ext cx="23771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DC1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$5,000 / $9,000 / $12,000</a:t>
            </a:r>
            <a:br>
              <a:rPr lang="en-US" sz="1350" dirty="0">
                <a:solidFill>
                  <a:srgbClr val="DC1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06750" y="1229246"/>
            <a:ext cx="2330500" cy="29337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name and logo on race collateral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the Kids 1K Run Banners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name and logo on kids t-shirts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for booth in KidsFest area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entries or 10 Kids 1K entries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04001" y="804069"/>
            <a:ext cx="2692450" cy="3229756"/>
          </a:xfrm>
          <a:prstGeom prst="roundRect">
            <a:avLst>
              <a:gd name="adj" fmla="val 1415"/>
            </a:avLst>
          </a:prstGeom>
          <a:solidFill>
            <a:srgbClr val="FFFFFF"/>
          </a:solidFill>
          <a:ln w="28575">
            <a:solidFill>
              <a:srgbClr val="1A1A1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62834" y="870306"/>
            <a:ext cx="19819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DC1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Sponsor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62834" y="1260029"/>
            <a:ext cx="2377110" cy="278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  <a:spcAft>
                <a:spcPts val="600"/>
              </a:spcAft>
            </a:pPr>
            <a:r>
              <a:rPr lang="en-US" sz="1350" dirty="0">
                <a:solidFill>
                  <a:srgbClr val="DC1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$4,000 / $6,500 / $9,000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65850" y="1581076"/>
            <a:ext cx="2330500" cy="233362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name and logo at registration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registration on kit pick-up and race day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to provide registration volunteers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complimentary entries to the race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81000" y="4102398"/>
            <a:ext cx="4114800" cy="944959"/>
          </a:xfrm>
          <a:prstGeom prst="roundRect">
            <a:avLst>
              <a:gd name="adj" fmla="val 3643"/>
            </a:avLst>
          </a:prstGeom>
          <a:solidFill>
            <a:srgbClr val="F5F5F5"/>
          </a:solidFill>
          <a:ln w="19050">
            <a:solidFill>
              <a:srgbClr val="1A1A1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33400" y="4153942"/>
            <a:ext cx="25065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Awards &amp; After Party Sponsor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33400" y="4477792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dirty="0">
                <a:solidFill>
                  <a:srgbClr val="DC1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$4,000 / $6,500 / $9,000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533400" y="4734967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the venue, Vendor Expo booth, provide awards • 6 entries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48200" y="4102398"/>
            <a:ext cx="4114800" cy="944959"/>
          </a:xfrm>
          <a:prstGeom prst="roundRect">
            <a:avLst>
              <a:gd name="adj" fmla="val 3643"/>
            </a:avLst>
          </a:prstGeom>
          <a:solidFill>
            <a:srgbClr val="F5F5F5"/>
          </a:solidFill>
          <a:ln w="19050">
            <a:solidFill>
              <a:srgbClr val="1A1A1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00600" y="4153942"/>
            <a:ext cx="19528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 Sponsor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800600" y="4477792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dirty="0">
                <a:solidFill>
                  <a:srgbClr val="DC1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$2,500 / $4,000 / $6,000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4800600" y="4734967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name and logo on all race bibs • 6 entries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DC14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448856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Sponsorship Options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61950" y="913915"/>
            <a:ext cx="2692450" cy="2132707"/>
          </a:xfrm>
          <a:prstGeom prst="roundRect">
            <a:avLst>
              <a:gd name="adj" fmla="val 1415"/>
            </a:avLst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8533" y="925375"/>
            <a:ext cx="16807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DC1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Stop Sponsor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52450" y="1198836"/>
            <a:ext cx="239654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C1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$2,000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3400" y="1344475"/>
            <a:ext cx="2349550" cy="180022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name and logo at water stop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your designated water stop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building opportunity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complimentary entries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01336" y="913916"/>
            <a:ext cx="2692450" cy="2132706"/>
          </a:xfrm>
          <a:prstGeom prst="roundRect">
            <a:avLst>
              <a:gd name="adj" fmla="val 1415"/>
            </a:avLst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62706" y="966246"/>
            <a:ext cx="14378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DC143C"/>
                </a:solidFill>
                <a:latin typeface="Arial" pitchFamily="34" charset="0"/>
                <a:cs typeface="Arial" pitchFamily="34" charset="-120"/>
              </a:rPr>
              <a:t>TBD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45484" y="1237840"/>
            <a:ext cx="239654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C1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$2,000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97300" y="1508968"/>
            <a:ext cx="2349550" cy="151812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name and logo at water stop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your designated water stop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complimentary entries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070699" y="914399"/>
            <a:ext cx="2692450" cy="2061419"/>
          </a:xfrm>
          <a:prstGeom prst="roundRect">
            <a:avLst>
              <a:gd name="adj" fmla="val 1415"/>
            </a:avLst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93960" y="971550"/>
            <a:ext cx="15739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DC1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Kilometer Sponsor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195009" y="1241361"/>
            <a:ext cx="239654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C1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$850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5644" y="1508968"/>
            <a:ext cx="2349550" cy="146685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sign as a Kilometer marker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Volunteers within your Kilometer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complimentary entries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81000" y="3199022"/>
            <a:ext cx="4114800" cy="972928"/>
          </a:xfrm>
          <a:prstGeom prst="roundRect">
            <a:avLst>
              <a:gd name="adj" fmla="val 3210"/>
            </a:avLst>
          </a:prstGeom>
          <a:solidFill>
            <a:srgbClr val="F5F5F5"/>
          </a:solidFill>
          <a:ln w="19050">
            <a:solidFill>
              <a:srgbClr val="1A1A1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33400" y="3256657"/>
            <a:ext cx="19528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Expo Booth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33400" y="3580507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DC1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 per 10x10 spot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533400" y="3818632"/>
            <a:ext cx="38862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your company, generate leads, connect with customers at our all-day festival expo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48200" y="3198538"/>
            <a:ext cx="4114800" cy="973412"/>
          </a:xfrm>
          <a:prstGeom prst="roundRect">
            <a:avLst>
              <a:gd name="adj" fmla="val 3210"/>
            </a:avLst>
          </a:prstGeom>
          <a:solidFill>
            <a:srgbClr val="F5F5F5"/>
          </a:solidFill>
          <a:ln w="19050">
            <a:solidFill>
              <a:srgbClr val="1A1A1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00600" y="3256657"/>
            <a:ext cx="19528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Teams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800600" y="3580507"/>
            <a:ext cx="38862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building and show your local support! Contact us for more information on corporate team opportunities.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1000" y="4367213"/>
            <a:ext cx="8382000" cy="428625"/>
          </a:xfrm>
          <a:prstGeom prst="roundRect">
            <a:avLst>
              <a:gd name="adj" fmla="val 8889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1490" y="4481513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sponsors: Logo on race materials • Website recognition • Social media mentions • Email to 5,000+ contacts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91288" y="447973"/>
            <a:ext cx="4561275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Us in Creating</a:t>
            </a:r>
            <a:endParaRPr lang="en-US" sz="3600" dirty="0"/>
          </a:p>
          <a:p>
            <a:pPr marL="0" indent="0" algn="ctr">
              <a:lnSpc>
                <a:spcPts val="4320"/>
              </a:lnSpc>
              <a:buNone/>
            </a:pPr>
            <a:r>
              <a:rPr lang="en-US" sz="3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Oakville Tradition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641550" y="1811834"/>
            <a:ext cx="3860750" cy="2144613"/>
          </a:xfrm>
          <a:prstGeom prst="roundRect">
            <a:avLst>
              <a:gd name="adj" fmla="val 1777"/>
            </a:avLst>
          </a:prstGeom>
          <a:solidFill>
            <a:srgbClr val="DC14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952701" y="2021384"/>
            <a:ext cx="3238449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40"/>
              </a:lnSpc>
              <a:spcAft>
                <a:spcPts val="1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a founding sponsor of the</a:t>
            </a:r>
            <a:endParaRPr lang="en-US" sz="1800" dirty="0"/>
          </a:p>
          <a:p>
            <a:pPr marL="0" indent="0" algn="ctr">
              <a:lnSpc>
                <a:spcPts val="2340"/>
              </a:lnSpc>
              <a:spcAft>
                <a:spcPts val="1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Bronte Harbour Classic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984450" y="2777430"/>
            <a:ext cx="317495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760607" y="2939355"/>
            <a:ext cx="16224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Us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952701" y="3282255"/>
            <a:ext cx="323844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Aft>
                <a:spcPts val="300"/>
              </a:spcAft>
              <a:buNone/>
            </a:pPr>
            <a:r>
              <a:rPr lang="en-US" sz="12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greg@tapegeeks.com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52701" y="3533626"/>
            <a:ext cx="323844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TapeGeeks.com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/Bronte-</a:t>
            </a:r>
            <a:r>
              <a:rPr lang="en-US" sz="12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Harbour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-Classic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95843" y="4223147"/>
            <a:ext cx="455201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Oakville Dads Charity • Organized by Bronte Runners Club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</TotalTime>
  <Words>725</Words>
  <Application>Microsoft Macintosh PowerPoint</Application>
  <PresentationFormat>On-screen Show (16:9)</PresentationFormat>
  <Paragraphs>126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Bronte Harbour Classic - Partnership Opportunities</dc:title>
  <dc:subject>Sponsorship Package</dc:subject>
  <dc:creator>Bronte Runners Club</dc:creator>
  <cp:lastModifiedBy>Greg Kowalczyk</cp:lastModifiedBy>
  <cp:revision>4</cp:revision>
  <dcterms:created xsi:type="dcterms:W3CDTF">2025-10-24T23:59:48Z</dcterms:created>
  <dcterms:modified xsi:type="dcterms:W3CDTF">2025-11-05T17:26:10Z</dcterms:modified>
</cp:coreProperties>
</file>